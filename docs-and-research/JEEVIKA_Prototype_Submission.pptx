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906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46888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— NCFE Innovate4FinLit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4838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 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34640" y="348386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Dhwanit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8770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640" y="387705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Financial Empowerment of Women (Rural &amp; Semi-Urban)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0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86384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589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Brief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JEEVIKA (जीविका) — Life &amp; Livelihood Simulator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1389888"/>
          </a:xfrm>
          <a:prstGeom prst="rect">
            <a:avLst/>
          </a:prstGeom>
          <a:solidFill>
            <a:srgbClr val="EBF3FB"/>
          </a:solidFill>
          <a:ln w="8890">
            <a:solidFill>
              <a:srgbClr val="1560A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4114800" cy="310896"/>
          </a:xfrm>
          <a:prstGeom prst="rect">
            <a:avLst/>
          </a:prstGeom>
          <a:solidFill>
            <a:srgbClr val="1560A0"/>
          </a:solidFill>
          <a:ln w="12700">
            <a:solidFill>
              <a:srgbClr val="156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1673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JEEVIKA?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627632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voice-first, offline-capable life simulation game that teaches rural Indian women to manage money — not through quizzes or lectures, but by living a financial life and feeling every consequence.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Philosophy: "You don't learn fire is hot by reading about it. You learn by getting close to it." Jeevika lets users experience financial consequences safely inside a game.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761488"/>
            <a:ext cx="4114800" cy="777240"/>
          </a:xfrm>
          <a:prstGeom prst="rect">
            <a:avLst/>
          </a:prstGeom>
          <a:solidFill>
            <a:srgbClr val="000000"/>
          </a:solidFill>
          <a:ln w="8890">
            <a:solidFill>
              <a:srgbClr val="C84B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27889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PITCH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30175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voice-first, offline-capable life simulator that teaches rural Indian women to manage money — not through quizzes or lectures, but by letting them LIVE a financial life and FEEL the consequences of every decision.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206240" cy="1389888"/>
          </a:xfrm>
          <a:prstGeom prst="rect">
            <a:avLst/>
          </a:prstGeom>
          <a:solidFill>
            <a:srgbClr val="FEF9F0"/>
          </a:solidFill>
          <a:ln w="8890">
            <a:solidFill>
              <a:srgbClr val="F5A62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42062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316736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(Evidence-Backed)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166420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35% of Indian bank accounts are dormant  (World Bank)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191109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93% of women micro-businesses mix personal &amp; business money  (IWWAGE/IFC)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15798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14% of women pass financial literacy thresholds  (NSFE MTE 2025)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4048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Standard financial education: 0.09 SD effect  (126 RCTs, Kaiser &amp; Menkhoff)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761488"/>
            <a:ext cx="4206240" cy="777240"/>
          </a:xfrm>
          <a:prstGeom prst="rect">
            <a:avLst/>
          </a:prstGeom>
          <a:solidFill>
            <a:srgbClr val="000000"/>
          </a:solidFill>
          <a:ln w="8890">
            <a:solidFill>
              <a:srgbClr val="4A7C5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7889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&amp; DEVICE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3017520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&amp; semi-urban women, 25–50 · Home-based micro-businesses · Jan Dhan account holders · Voice-first · 2G/offline · Entry-level Android (₹6,000, 512MB RAM, Android 6.0+)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3675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Mechanics: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74520" y="3657600"/>
            <a:ext cx="2304288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1560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9384" y="3675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Wallet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70248" y="3657600"/>
            <a:ext cx="2304288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C84B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25112" y="3675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Engine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65976" y="3657600"/>
            <a:ext cx="2304288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7D3C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3675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Frame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74520" y="3968496"/>
            <a:ext cx="2304288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9384" y="3986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Snake / Savings Tree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70248" y="3968496"/>
            <a:ext cx="2304288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3986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Circle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65976" y="3968496"/>
            <a:ext cx="2304288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4A7C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3986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Power-Ups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0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86384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589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(PWA) — Offline Capable · Mobile-First · Voice-First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1307592"/>
            <a:ext cx="2286000" cy="3822192"/>
          </a:xfrm>
          <a:prstGeom prst="rect">
            <a:avLst/>
          </a:prstGeom>
          <a:solidFill>
            <a:srgbClr val="EBF3FB"/>
          </a:solidFill>
          <a:ln w="8890">
            <a:solidFill>
              <a:srgbClr val="1560A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07592"/>
            <a:ext cx="2286000" cy="292608"/>
          </a:xfrm>
          <a:prstGeom prst="rect">
            <a:avLst/>
          </a:prstGeom>
          <a:solidFill>
            <a:srgbClr val="1560A0"/>
          </a:solidFill>
          <a:ln w="12700">
            <a:solidFill>
              <a:srgbClr val="156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25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" y="1655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Framework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0896" y="18288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/ React 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39112"/>
            <a:ext cx="2011680" cy="0"/>
          </a:xfrm>
          <a:prstGeom prst="line">
            <a:avLst/>
          </a:prstGeom>
          <a:noFill/>
          <a:ln w="5080">
            <a:solidFill>
              <a:srgbClr val="C8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084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Styling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" y="22585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2011680" cy="0"/>
          </a:xfrm>
          <a:prstGeom prst="line">
            <a:avLst/>
          </a:prstGeom>
          <a:noFill/>
          <a:ln w="5080">
            <a:solidFill>
              <a:srgbClr val="C8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2514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Animations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" y="26883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11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898648"/>
            <a:ext cx="2011680" cy="0"/>
          </a:xfrm>
          <a:prstGeom prst="line">
            <a:avLst/>
          </a:prstGeom>
          <a:noFill/>
          <a:ln w="5080">
            <a:solidFill>
              <a:srgbClr val="C8D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2944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Audio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31181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Howler.js 2.x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328416"/>
            <a:ext cx="2011680" cy="0"/>
          </a:xfrm>
          <a:prstGeom prst="line">
            <a:avLst/>
          </a:prstGeom>
          <a:noFill/>
          <a:ln w="5080">
            <a:solidFill>
              <a:srgbClr val="C8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33741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State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0896" y="35478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4.x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758184"/>
            <a:ext cx="2011680" cy="0"/>
          </a:xfrm>
          <a:prstGeom prst="line">
            <a:avLst/>
          </a:prstGeom>
          <a:noFill/>
          <a:ln w="5080">
            <a:solidFill>
              <a:srgbClr val="C8D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Storage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" y="39776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(Offline-First)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4187952"/>
            <a:ext cx="2011680" cy="0"/>
          </a:xfrm>
          <a:prstGeom prst="line">
            <a:avLst/>
          </a:prstGeom>
          <a:noFill/>
          <a:ln w="5080">
            <a:solidFill>
              <a:srgbClr val="C8D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4233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10896" y="44074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(Free Tier)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4617720"/>
            <a:ext cx="2011680" cy="0"/>
          </a:xfrm>
          <a:prstGeom prst="line">
            <a:avLst/>
          </a:prstGeom>
          <a:noFill/>
          <a:ln w="5080">
            <a:solidFill>
              <a:srgbClr val="C8D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4663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PWA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0896" y="483717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next-pwa (Service Worker)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1307592"/>
            <a:ext cx="1645920" cy="329184"/>
          </a:xfrm>
          <a:prstGeom prst="rect">
            <a:avLst/>
          </a:prstGeom>
          <a:solidFill>
            <a:srgbClr val="1560A0"/>
          </a:solidFill>
          <a:ln w="12700">
            <a:solidFill>
              <a:srgbClr val="1560A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0" y="13075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(Rural Woman)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52160" y="1636776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160520" y="1801368"/>
            <a:ext cx="3383280" cy="32918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60520" y="18013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Browser  ·  Chrome / Android WebView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52160" y="2130552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246120" y="2295144"/>
            <a:ext cx="52120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246120" y="229514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/ React  ·  Tailwind CSS  ·  Framer Motion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0" y="2624328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852160" y="2624328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680960" y="2624328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035808" y="2788920"/>
            <a:ext cx="1234440" cy="6858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035808" y="27889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(GDScript→JS)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230368" y="2788920"/>
            <a:ext cx="1234440" cy="6858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230368" y="27889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(Zustand)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059168" y="2788920"/>
            <a:ext cx="128016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059168" y="27889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(Howler.js)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852160" y="3474720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160520" y="3639312"/>
            <a:ext cx="3383280" cy="32918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60520" y="36393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 ·  Service Worker Cache  ·  Offline-First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80960" y="3639312"/>
            <a:ext cx="1280160" cy="329184"/>
          </a:xfrm>
          <a:prstGeom prst="rect">
            <a:avLst/>
          </a:prstGeom>
          <a:solidFill>
            <a:srgbClr val="000000"/>
          </a:solidFill>
          <a:ln w="7620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36393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after first load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852160" y="3968496"/>
            <a:ext cx="0" cy="16459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160520" y="4133088"/>
            <a:ext cx="3383280" cy="329184"/>
          </a:xfrm>
          <a:prstGeom prst="rect">
            <a:avLst/>
          </a:prstGeom>
          <a:solidFill>
            <a:srgbClr val="1560A0"/>
          </a:solidFill>
          <a:ln w="12700">
            <a:solidFill>
              <a:srgbClr val="1560A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160520" y="41330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  ·  jeevika.vercel.app  ·  HTTPS + PWA Manifest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56032" y="4398264"/>
            <a:ext cx="2286000" cy="640080"/>
          </a:xfrm>
          <a:prstGeom prst="rect">
            <a:avLst/>
          </a:prstGeom>
          <a:solidFill>
            <a:srgbClr val="000000"/>
          </a:solidFill>
          <a:ln w="762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29184" y="44256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Low-Bandwidth Strategy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10896" y="4636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PWA caches all assets on first load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fully offline after first visit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*99# USSD balance check (no-data)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APK &lt; 50MB for production Godot build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0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86384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589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Public Repository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documentation, and live deployment details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307592"/>
            <a:ext cx="8595360" cy="621792"/>
          </a:xfrm>
          <a:prstGeom prst="rect">
            <a:avLst/>
          </a:prstGeom>
          <a:solidFill>
            <a:srgbClr val="000000"/>
          </a:solidFill>
          <a:ln w="12700">
            <a:solidFill>
              <a:srgbClr val="1560A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Repository Link: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95728" y="13716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https://github.com/dhwanit6/jeevika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65506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655064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https://jeevika.vercel.app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165506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granted to: ncfe.hackathon@ncfe.org.in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8595360" cy="320040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57400"/>
            <a:ext cx="8595360" cy="310896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848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Mandatory README.md Checklist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24597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Tech Stack Dependencies &amp; Versions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" y="26974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14.2.x · React 18.3 · Tailwind 3.4 · Framer Motion 11.0 · Howler.js 2.2 · Zustand 4.5 · next-pwa 5.6 — all listed in package.json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2336" y="3154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Step-by-Step Local Setup Instructions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" y="33924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→ cd jeevika → npm install → npm run dev → Opens at localhost:3000. Build: npm run build &amp;&amp; npm start. Deploy: Push to GitHub → auto-deploy via Vercel.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2336" y="38496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Testing Credentials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" y="40873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required. Game uses 4-digit PIN for local save state (default: 0000). No server-side accounts. All data stored in localStorage.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2336" y="4544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PWA Installation (Android)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" y="47823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jeevika.vercel.app in Chrome → tap ⋮ menu → Add to Home Screen → App installs. Works fully offline after first page load via Service Worker.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45736" y="24597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 Folder Structure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28616" y="26974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src/components/ · src/store/gameStore.ts · src/data/story.ts · src/utils/ · public/audio/ · public/images/ — complete folder map in README with component descriptions.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45736" y="3154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Game State Architecture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28616" y="33924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 tracks: homeWallet, workWallet, savings, debt, insurance (bool), digitalCourage (0-100), photoClarity (0-1.0), treeStage (0-5), snakeStage (0-5), currentSeason.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45736" y="38496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Financial Model Documentation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28616" y="40873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consequence_calc.ts: Debt compounds at 5%/month (Seth Ji). Bank savings: +0.5%/month. photoClarity = savings/savings_goal. walletScore = correct_allocations/total.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45736" y="4544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Submission Freeze Notice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28616" y="47823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NCFE rules, no commits after March 29, 2026. Final commit tagged: v1.0.0-ncfe-submission. Repository remains public with read access for evaluators.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0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86384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589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(10 Minutes)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Walkthrough — Unedited Screen Recording of User Completing Primary Task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307592"/>
            <a:ext cx="8595360" cy="438912"/>
          </a:xfrm>
          <a:prstGeom prst="rect">
            <a:avLst/>
          </a:prstGeom>
          <a:solidFill>
            <a:srgbClr val="000000"/>
          </a:solidFill>
          <a:ln w="10160">
            <a:solidFill>
              <a:srgbClr val="1560A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99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Link: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39903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Google Drive / OneDrive link — unlisted video URL]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56232"/>
            <a:ext cx="4160520" cy="1371600"/>
          </a:xfrm>
          <a:prstGeom prst="rect">
            <a:avLst/>
          </a:prstGeom>
          <a:solidFill>
            <a:srgbClr val="FEF9F0"/>
          </a:solidFill>
          <a:ln w="8890">
            <a:solidFill>
              <a:srgbClr val="F5A62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56232"/>
            <a:ext cx="41605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8366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The Rule of Three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2194560"/>
            <a:ext cx="40233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Jeevika implements the "Rule of Three" across three parallel arcs: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THREE decision domains — Home Money, Work Money, Emergency Savings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THREE time horizons — Immediate (season), Near (year), Long-term (life)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THREE feedback channels — Visual (tree/snake/photo), Peer (SHG), Narrative (consequences)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session: 3-screen loop → Decision → Consequence → Debrief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856232"/>
            <a:ext cx="4251960" cy="1371600"/>
          </a:xfrm>
          <a:prstGeom prst="rect">
            <a:avLst/>
          </a:prstGeom>
          <a:solidFill>
            <a:srgbClr val="000000"/>
          </a:solidFill>
          <a:ln w="8890">
            <a:solidFill>
              <a:srgbClr val="4A7C5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856232"/>
            <a:ext cx="4251960" cy="2926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88366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&amp; Penalty Mechanisms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81728" y="2203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81728" y="2404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Tree grows through 5 stages · Photo Frame clears · "Savdhan Sakhi" badge for avoiding OTP scam · SHG peer praise · Power-up discovery glow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81728" y="2752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81728" y="29352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Snake coils around house · Photo Frame blurs back · Seth Ji loan compounds at 60% p.a. · Daughter pulled-from-school story event triggers · Wallet merge visual warning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319272"/>
            <a:ext cx="8595360" cy="1261872"/>
          </a:xfrm>
          <a:prstGeom prst="rect">
            <a:avLst/>
          </a:prstGeom>
          <a:solidFill>
            <a:srgbClr val="EBF3FB"/>
          </a:solidFill>
          <a:ln w="8890">
            <a:solidFill>
              <a:srgbClr val="1560A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19272"/>
            <a:ext cx="8595360" cy="292608"/>
          </a:xfrm>
          <a:prstGeom prst="rect">
            <a:avLst/>
          </a:prstGeom>
          <a:solidFill>
            <a:srgbClr val="1560A0"/>
          </a:solidFill>
          <a:ln w="12700">
            <a:solidFill>
              <a:srgbClr val="156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46704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Story, Scenario &amp; Characters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6576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8862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character. Rural tailor, ~30, Darbhanga Bihar. Manages tailoring + farming household. Her decisions drive every outcome.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039112" y="3685032"/>
            <a:ext cx="0" cy="777240"/>
          </a:xfrm>
          <a:prstGeom prst="line">
            <a:avLst/>
          </a:prstGeom>
          <a:noFill/>
          <a:ln w="6350">
            <a:solidFill>
              <a:srgbClr val="C5D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84832" y="36576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Ramu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84832" y="38862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Husband, farmer. Gets injured in Ep. 3 crisis — the pivotal insurance consequence moment. 3-month income gap.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758184" y="3685032"/>
            <a:ext cx="0" cy="777240"/>
          </a:xfrm>
          <a:prstGeom prst="line">
            <a:avLst/>
          </a:prstGeom>
          <a:noFill/>
          <a:ln w="6350">
            <a:solidFill>
              <a:srgbClr val="C5D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3904" y="36576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Gudiya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03904" y="38862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Daughter, age 8. Her Photo Frame blurs or clears based on savings. Kavita's emotional motivation throughout.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77256" y="3685032"/>
            <a:ext cx="0" cy="777240"/>
          </a:xfrm>
          <a:prstGeom prst="line">
            <a:avLst/>
          </a:prstGeom>
          <a:noFill/>
          <a:ln w="6350">
            <a:solidFill>
              <a:srgbClr val="C5D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22976" y="36576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Seth Ji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22976" y="38862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Moneylender. Offers ₹15,000 at 5%/month (60% p.a.) during crisis. Visually linked to Debt Snake.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196328" y="3685032"/>
            <a:ext cx="0" cy="777240"/>
          </a:xfrm>
          <a:prstGeom prst="line">
            <a:avLst/>
          </a:prstGeom>
          <a:noFill/>
          <a:ln w="6350">
            <a:solidFill>
              <a:srgbClr val="C5D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36576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Circle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42048" y="38862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(wise), Meera (relatable), Priya (tech-forward). Hold weekly peer accountability meetings post-season.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0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86384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589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Prototype (Optional)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gaps, incomplete features, and hardcoded placeholders in the current build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251960" cy="1161288"/>
          </a:xfrm>
          <a:prstGeom prst="rect">
            <a:avLst/>
          </a:prstGeom>
          <a:solidFill>
            <a:srgbClr val="F7F9FC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329184" cy="1161288"/>
          </a:xfrm>
          <a:prstGeom prst="rect">
            <a:avLst/>
          </a:prstGeom>
          <a:solidFill>
            <a:srgbClr val="0000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6733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56432" y="1335024"/>
            <a:ext cx="1024128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33502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E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Art/Design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67512" y="1344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Illustrations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" y="160934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(Kavita, Ramu, Gudiya, Seth Ji) are CSS avatars / emoji placeholders. Production requires hand-illustrated 2D assets in Indian children's book illustration style.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4251960" cy="1161288"/>
          </a:xfrm>
          <a:prstGeom prst="rect">
            <a:avLst/>
          </a:prstGeom>
          <a:solidFill>
            <a:srgbClr val="F7F9FC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80160"/>
            <a:ext cx="329184" cy="1161288"/>
          </a:xfrm>
          <a:prstGeom prst="rect">
            <a:avLst/>
          </a:prstGeom>
          <a:solidFill>
            <a:srgbClr val="0000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6733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91272" y="1335024"/>
            <a:ext cx="1024128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133502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E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102352" y="1344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Voice (Not Human-Recorded)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02352" y="160934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narration uses ElevenLabs TTS as prototype substitute. Production requires professionally voice-acted Hindi audio with regional warmth and character distinctiveness.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532888"/>
            <a:ext cx="4251960" cy="1161288"/>
          </a:xfrm>
          <a:prstGeom prst="rect">
            <a:avLst/>
          </a:prstGeom>
          <a:solidFill>
            <a:srgbClr val="F7F9FC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532888"/>
            <a:ext cx="329184" cy="1161288"/>
          </a:xfrm>
          <a:prstGeom prst="rect">
            <a:avLst/>
          </a:prstGeom>
          <a:solidFill>
            <a:srgbClr val="0000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92608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456432" y="2587752"/>
            <a:ext cx="1024128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5877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E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Feature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67512" y="2596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2 &amp; 4 Not Built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7512" y="2862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Season (Ep 2) and Rabi Rebuild (Ep 4) shown as PPT wireframes only. Prototype covers: Ep 1 (Kharif), Ep 3 (Crisis), OTP Mini-game, and Season Report Card.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2532888"/>
            <a:ext cx="4251960" cy="1161288"/>
          </a:xfrm>
          <a:prstGeom prst="rect">
            <a:avLst/>
          </a:prstGeom>
          <a:solidFill>
            <a:srgbClr val="F7F9FC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532888"/>
            <a:ext cx="329184" cy="1161288"/>
          </a:xfrm>
          <a:prstGeom prst="rect">
            <a:avLst/>
          </a:prstGeom>
          <a:solidFill>
            <a:srgbClr val="0000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292608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👩‍👩‍👧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891272" y="2587752"/>
            <a:ext cx="1024128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91272" y="25877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E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Data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102352" y="2596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Characters — Static Dialogue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02352" y="2862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characters (Sunita, Meera, Priya) use hardcoded dialogue responses, not AI. Production will use a rule-based response tree or embedded local LLM for dynamic reactions.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785616"/>
            <a:ext cx="4251960" cy="1161288"/>
          </a:xfrm>
          <a:prstGeom prst="rect">
            <a:avLst/>
          </a:prstGeom>
          <a:solidFill>
            <a:srgbClr val="F7F9FC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785616"/>
            <a:ext cx="329184" cy="1161288"/>
          </a:xfrm>
          <a:prstGeom prst="rect">
            <a:avLst/>
          </a:prstGeom>
          <a:solidFill>
            <a:srgbClr val="0000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41788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456432" y="3840480"/>
            <a:ext cx="1024128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6432" y="384048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E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Feature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67512" y="3849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Language (Hindi Only)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7512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Bhojpuri, Marathi, Telugu, and regional language tracks planned but not implemented. Language toggle UI exists but routes to Hindi fallback for all selections.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785616"/>
            <a:ext cx="4251960" cy="1161288"/>
          </a:xfrm>
          <a:prstGeom prst="rect">
            <a:avLst/>
          </a:prstGeom>
          <a:solidFill>
            <a:srgbClr val="F7F9FC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785616"/>
            <a:ext cx="329184" cy="1161288"/>
          </a:xfrm>
          <a:prstGeom prst="rect">
            <a:avLst/>
          </a:prstGeom>
          <a:solidFill>
            <a:srgbClr val="0000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27448" y="41788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891272" y="3840480"/>
            <a:ext cx="1024128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91272" y="384048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E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Gap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102352" y="3849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Prototype (Not Native APK)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102352" y="4114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is a PWA, not a Godot 4.x Android APK. Production port to Godot required for native offline performance on low-RAM devices (&lt;512MB, Android 6.0+).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0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86384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589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Market Alignment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→ Full-Scale Application for 300 Million Rural Women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645920" cy="777240"/>
          </a:xfrm>
          <a:prstGeom prst="rect">
            <a:avLst/>
          </a:prstGeom>
          <a:solidFill>
            <a:srgbClr val="1560A0"/>
          </a:solidFill>
          <a:ln w="12700">
            <a:solidFill>
              <a:srgbClr val="156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Women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 India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93392" y="1280160"/>
            <a:ext cx="1645920" cy="77724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₹2.5L Cr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93392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Dhan Dormant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Opportunity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12464" y="1280160"/>
            <a:ext cx="1645920" cy="7772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12464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Business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Funds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31536" y="1280160"/>
            <a:ext cx="1645920" cy="7772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1536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31536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NCFE Financial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Covered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50608" y="1280160"/>
            <a:ext cx="1645920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50MB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50608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APK Size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(Godot Production)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176272"/>
            <a:ext cx="8595360" cy="1207008"/>
          </a:xfrm>
          <a:prstGeom prst="rect">
            <a:avLst/>
          </a:prstGeom>
          <a:solidFill>
            <a:srgbClr val="EBF3FB"/>
          </a:solidFill>
          <a:ln w="8890">
            <a:solidFill>
              <a:srgbClr val="1560A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76272"/>
            <a:ext cx="8595360" cy="292608"/>
          </a:xfrm>
          <a:prstGeom prst="rect">
            <a:avLst/>
          </a:prstGeom>
          <a:solidFill>
            <a:srgbClr val="1560A0"/>
          </a:solidFill>
          <a:ln w="12700">
            <a:solidFill>
              <a:srgbClr val="156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203704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Go-to-Market Strategy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2336" y="25146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284378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SHG members in Bihar &amp; UP via BC Sakhis. WhatsApp APK distribution. No login needed.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29968" y="2798064"/>
            <a:ext cx="73152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121408" y="25146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21408" y="284378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users. Partner NABARD &amp; State Rural Livelihood Missions. Hindi + 4 regional languages.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49040" y="2798064"/>
            <a:ext cx="73152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840480" y="25146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Adoption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0" y="284378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users. NPCI/PMJDY integration for real scheme enrollment. Aajeevika Mission embed.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68112" y="2798064"/>
            <a:ext cx="73152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559552" y="25146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59552" y="284378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SaaS to state govts &amp; NCFE · CSR partnerships · White-label for banks (PMJJBY uplift).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87184" y="2798064"/>
            <a:ext cx="73152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278624" y="251460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78624" y="284378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Bangladesh, Nepal, Kenya — same mechanics, local characters. $100B+ global finlit market.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474720"/>
            <a:ext cx="8595360" cy="1170432"/>
          </a:xfrm>
          <a:prstGeom prst="rect">
            <a:avLst/>
          </a:prstGeom>
          <a:solidFill>
            <a:srgbClr val="FEF9F0"/>
          </a:solidFill>
          <a:ln w="8890">
            <a:solidFill>
              <a:srgbClr val="F5A62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474720"/>
            <a:ext cx="859536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50215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Science Evidence Base — Why This Will Work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4048" y="380390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84048" y="41148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Wallet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4048" y="427939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Micro-entrepreneurs separating business &amp; personal money (Drexler, Fischer, Schoar RCT)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002536" y="3913632"/>
            <a:ext cx="0" cy="53035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03120" y="380390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+41%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2103120" y="41148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Engine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103120" y="427939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users visualized their future self over 3 years (Kenya Future Self RCT)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721608" y="3913632"/>
            <a:ext cx="0" cy="53035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22192" y="380390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3822192" y="41148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Frame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822192" y="427939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photo on savings envelope increases deposits (Soman &amp; Cheema, 2011)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440680" y="3913632"/>
            <a:ext cx="0" cy="53035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41264" y="380390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541264" y="41148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+ Characters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541264" y="427939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shifted by narrative edutainment (MKBKSH India Radio Serial, 17 years)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159752" y="3913632"/>
            <a:ext cx="0" cy="53035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60336" y="380390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7260336" y="41148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Power-Ups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260336" y="427939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scheme discovery boosts real-world signup rates (BIT, 2022)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560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786384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589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 Mechanics — The Learning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Behavioral-Science-Backed Mechanics that ARE the Financial Education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1280160"/>
            <a:ext cx="28346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0A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80160"/>
            <a:ext cx="2834640" cy="310896"/>
          </a:xfrm>
          <a:prstGeom prst="rect">
            <a:avLst/>
          </a:prstGeom>
          <a:solidFill>
            <a:srgbClr val="1560A0"/>
          </a:solidFill>
          <a:ln w="12700">
            <a:solidFill>
              <a:srgbClr val="1560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61488" y="115214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6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👛  Split Wallet (दो बटुए)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627632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1783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persistent wallet bars (Home / Work). Player DRAGS income &amp; expenses to correct wallet. Wrong allocation causes wallets to visually MERGE.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265176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9514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7472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revenue when entrepreneurs separated wallets (Drexler, Fischer, Schoar RCT)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7472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"You thought profit was ₹15,000. Actual business profit: ₹3,200."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18688" y="1280160"/>
            <a:ext cx="28346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1280160"/>
            <a:ext cx="2834640" cy="310896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24144" y="115214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24144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Consequence Engine (अगर-तो)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1627632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10128" y="1783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splits showing BOTH possible futures before player chooses. Game does NOT prevent bad choices — consequences play out over 2-3 episodes.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10128" y="2267712"/>
            <a:ext cx="265176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29514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10128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+41% savings when people visualized future self (Kenya RCT, 3 years)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10128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"You chose the ₹2,000 wedding gift. 3 months later — Gudiya's fees, no savings, Seth Ji arrives."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81344" y="1280160"/>
            <a:ext cx="28346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7D3C9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1344" y="1280160"/>
            <a:ext cx="2834640" cy="31089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115214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54496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Photo Frame (तस्वीर)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72784" y="1627632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72784" y="1783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 Gudiya's photo becomes clearer as savings grow toward goal. Withdrawing savings BLURS it back. Emotionally painful by design.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72784" y="2267712"/>
            <a:ext cx="265176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229514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272784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savings when children's photo placed on savings envelope (Soman &amp; Cheema, 2011)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72784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Abstract savings number becomes emotional stakes — daughter's future made visible.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" y="3218688"/>
            <a:ext cx="28346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3218688"/>
            <a:ext cx="2834640" cy="31089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61488" y="309067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61488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" y="3236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🐍🌳  Debt Snake &amp; Savings Tree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" y="3566160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47472" y="37216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tree grows from seed to banyan (5 stages). Debt snake coils around house, grows second head with compound interest. Zero numbers needed.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47472" y="4206240"/>
            <a:ext cx="265176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2336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47472" y="4379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Theory: losses felt 2× more than gains. Visual beats numeric for low-literacy users. (Kahneman)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47472" y="46817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Universal financial literacy signal — works for 0% formal education users.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218688" y="3218688"/>
            <a:ext cx="28346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18688" y="3218688"/>
            <a:ext cx="2834640" cy="3108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24144" y="309067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24144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91840" y="3236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👩‍👩‍👧  SHG Circle (बचत समूह)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10128" y="3566160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310128" y="37216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 characters (Sunita/Meera/Priya) share savings progress at each season end. Peer praise when good. Gentle nudge when bad — never judgmental.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310128" y="4206240"/>
            <a:ext cx="265176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10128" y="42336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310128" y="4379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savings commitments more effective than private decisions (Chile + India RCTs)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310128" y="46817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Social accountability — the most powerful commitment device in collectivist culture.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181344" y="3218688"/>
            <a:ext cx="28346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77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81344" y="3218688"/>
            <a:ext cx="2834640" cy="310896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86800" y="309067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254496" y="3236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Scheme Power-Ups (योजना शक्ति)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72784" y="3566160"/>
            <a:ext cx="2651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272784" y="37216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 govt schemes (APY, Bima Vistaar, Sukanya, MUDRA) appear as discoverable power-ups with [ACTIVATE] + [REAL LIFE enrollment guide] buttons.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272784" y="4206240"/>
            <a:ext cx="265176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72784" y="42336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272784" y="4379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 scheme enrollment uplift when gamified discovery used (BIT, 2022)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272784" y="46817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Bridges intent-to-action gap. Player EXPERIENCES benefit before real-life enrollment.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992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Million Kavitas.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5112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Game. Built for Bharat.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9502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jeevika.vercel.app  ·  github.com/dhwanit6/jeevika  ·  Team Interface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279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"Apni Zindagi, Apne Faislay" — Your Life, Your Decisions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JEEVIKA — Innovate4FinLit Prototype Submission</dc:title>
  <dc:subject>PptxGenJS Presentation</dc:subject>
  <dc:creator>Dhwanit</dc:creator>
  <cp:lastModifiedBy>Dhwanit</cp:lastModifiedBy>
  <cp:revision>1</cp:revision>
  <dcterms:created xsi:type="dcterms:W3CDTF">2026-03-29T17:02:59Z</dcterms:created>
  <dcterms:modified xsi:type="dcterms:W3CDTF">2026-03-29T17:02:59Z</dcterms:modified>
</cp:coreProperties>
</file>