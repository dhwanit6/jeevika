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Poppins"/>
      <p:regular r:id="rId15"/>
      <p:bold r:id="rId16"/>
      <p:italic r:id="rId17"/>
      <p:boldItalic r:id="rId18"/>
    </p:embeddedFont>
    <p:embeddedFont>
      <p:font typeface="Poppins Medium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Medium-bold.fntdata"/><Relationship Id="rId11" Type="http://schemas.openxmlformats.org/officeDocument/2006/relationships/slide" Target="slides/slide6.xml"/><Relationship Id="rId22" Type="http://schemas.openxmlformats.org/officeDocument/2006/relationships/font" Target="fonts/PoppinsMedium-boldItalic.fntdata"/><Relationship Id="rId10" Type="http://schemas.openxmlformats.org/officeDocument/2006/relationships/slide" Target="slides/slide5.xml"/><Relationship Id="rId21" Type="http://schemas.openxmlformats.org/officeDocument/2006/relationships/font" Target="fonts/PoppinsMedium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oppins-regular.fntdata"/><Relationship Id="rId14" Type="http://schemas.openxmlformats.org/officeDocument/2006/relationships/slide" Target="slides/slide9.xml"/><Relationship Id="rId17" Type="http://schemas.openxmlformats.org/officeDocument/2006/relationships/font" Target="fonts/Poppins-italic.fntdata"/><Relationship Id="rId16" Type="http://schemas.openxmlformats.org/officeDocument/2006/relationships/font" Target="fonts/Poppins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PoppinsMedium-regular.fntdata"/><Relationship Id="rId6" Type="http://schemas.openxmlformats.org/officeDocument/2006/relationships/slide" Target="slides/slide1.xml"/><Relationship Id="rId18" Type="http://schemas.openxmlformats.org/officeDocument/2006/relationships/font" Target="fonts/Poppi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c5c16866e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c5c16866e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c5c16866e2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c5c16866e2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c5c16866e2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c5c16866e2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c5c16866e2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c5c16866e2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c5c16866e2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c5c16866e2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c5c16866e2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c5c16866e2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5c16866e2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c5c16866e2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190962bf2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b190962bf2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2752732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/>
          <p:nvPr/>
        </p:nvSpPr>
        <p:spPr>
          <a:xfrm>
            <a:off x="0" y="2740653"/>
            <a:ext cx="9144000" cy="141300"/>
          </a:xfrm>
          <a:prstGeom prst="rect">
            <a:avLst/>
          </a:prstGeom>
          <a:solidFill>
            <a:srgbClr val="1B9C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311700" y="319182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20272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Team Name :</a:t>
            </a:r>
            <a:endParaRPr sz="1700">
              <a:solidFill>
                <a:srgbClr val="20272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11688" y="3666945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20272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Team Leader Name :</a:t>
            </a:r>
            <a:endParaRPr sz="1700">
              <a:solidFill>
                <a:srgbClr val="20272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311705" y="4142060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20272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Problem Statement :</a:t>
            </a:r>
            <a:endParaRPr sz="1700">
              <a:solidFill>
                <a:srgbClr val="20272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 title="Frame 6.png"/>
          <p:cNvPicPr preferRelativeResize="0"/>
          <p:nvPr/>
        </p:nvPicPr>
        <p:blipFill rotWithShape="1">
          <a:blip r:embed="rId3">
            <a:alphaModFix/>
          </a:blip>
          <a:srcRect b="4736" l="0" r="0" t="5730"/>
          <a:stretch/>
        </p:blipFill>
        <p:spPr>
          <a:xfrm>
            <a:off x="0" y="0"/>
            <a:ext cx="9144000" cy="53585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311700" y="776500"/>
            <a:ext cx="8520600" cy="40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-GB" sz="1200">
                <a:latin typeface="Poppins"/>
                <a:ea typeface="Poppins"/>
                <a:cs typeface="Poppins"/>
                <a:sym typeface="Poppins"/>
              </a:rPr>
              <a:t>Prototype Brief</a:t>
            </a:r>
            <a:endParaRPr b="1" sz="12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Frame 6.png"/>
          <p:cNvPicPr preferRelativeResize="0"/>
          <p:nvPr/>
        </p:nvPicPr>
        <p:blipFill rotWithShape="1">
          <a:blip r:embed="rId3">
            <a:alphaModFix/>
          </a:blip>
          <a:srcRect b="4736" l="0" r="0" t="5730"/>
          <a:stretch/>
        </p:blipFill>
        <p:spPr>
          <a:xfrm>
            <a:off x="0" y="0"/>
            <a:ext cx="9144000" cy="53585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311700" y="776500"/>
            <a:ext cx="8520600" cy="40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Poppins"/>
                <a:ea typeface="Poppins"/>
                <a:cs typeface="Poppins"/>
                <a:sym typeface="Poppins"/>
              </a:rPr>
              <a:t>Technical Architecture</a:t>
            </a:r>
            <a:endParaRPr b="1" sz="1200"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Poppins Medium"/>
              <a:buAutoNum type="alphaLcParenR"/>
            </a:pPr>
            <a:r>
              <a:rPr lang="en-GB" sz="1200">
                <a:latin typeface="Poppins Medium"/>
                <a:ea typeface="Poppins Medium"/>
                <a:cs typeface="Poppins Medium"/>
                <a:sym typeface="Poppins Medium"/>
              </a:rPr>
              <a:t>Submit clear flowcharts that explicitly displays the following components:</a:t>
            </a:r>
            <a:endParaRPr sz="1200"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AutoNum type="romanUcPeriod"/>
            </a:pPr>
            <a:r>
              <a:rPr lang="en-GB" sz="1200">
                <a:latin typeface="Poppins Medium"/>
                <a:ea typeface="Poppins Medium"/>
                <a:cs typeface="Poppins Medium"/>
                <a:sym typeface="Poppins Medium"/>
              </a:rPr>
              <a:t>Frontend framework and End-to-end user interface flow.</a:t>
            </a:r>
            <a:endParaRPr sz="1200"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AutoNum type="romanUcPeriod"/>
            </a:pPr>
            <a:r>
              <a:rPr lang="en-GB" sz="1200">
                <a:latin typeface="Poppins Medium"/>
                <a:ea typeface="Poppins Medium"/>
                <a:cs typeface="Poppins Medium"/>
                <a:sym typeface="Poppins Medium"/>
              </a:rPr>
              <a:t>Backend infrastructure.</a:t>
            </a:r>
            <a:endParaRPr sz="1200"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AutoNum type="romanUcPeriod"/>
            </a:pPr>
            <a:r>
              <a:rPr lang="en-GB" sz="1200">
                <a:latin typeface="Poppins Medium"/>
                <a:ea typeface="Poppins Medium"/>
                <a:cs typeface="Poppins Medium"/>
                <a:sym typeface="Poppins Medium"/>
              </a:rPr>
              <a:t>Database schema and storage solutions.</a:t>
            </a:r>
            <a:endParaRPr sz="1200"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AutoNum type="romanUcPeriod"/>
            </a:pPr>
            <a:r>
              <a:rPr lang="en-GB" sz="1200">
                <a:latin typeface="Poppins Medium"/>
                <a:ea typeface="Poppins Medium"/>
                <a:cs typeface="Poppins Medium"/>
                <a:sym typeface="Poppins Medium"/>
              </a:rPr>
              <a:t>Any third-party APIs, libraries or external integrations used.</a:t>
            </a:r>
            <a:endParaRPr sz="1200"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AutoNum type="romanUcPeriod"/>
            </a:pPr>
            <a:r>
              <a:rPr lang="en-GB" sz="1200">
                <a:latin typeface="Poppins Medium"/>
                <a:ea typeface="Poppins Medium"/>
                <a:cs typeface="Poppins Medium"/>
                <a:sym typeface="Poppins Medium"/>
              </a:rPr>
              <a:t>Technology stack used in the solution</a:t>
            </a:r>
            <a:endParaRPr sz="1200"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latin typeface="Poppins Medium"/>
                <a:ea typeface="Poppins Medium"/>
                <a:cs typeface="Poppins Medium"/>
                <a:sym typeface="Poppins Medium"/>
              </a:rPr>
              <a:t>b) Detail how your technical stack accommodates low-bandwidth environments, offline capabilities or hardware limitations typical in rural settings. </a:t>
            </a:r>
            <a:endParaRPr sz="1200"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200">
                <a:latin typeface="Poppins Medium"/>
                <a:ea typeface="Poppins Medium"/>
                <a:cs typeface="Poppins Medium"/>
                <a:sym typeface="Poppins Medium"/>
              </a:rPr>
              <a:t>Explain how your architecture ensures the prototype remains functional without high-speed internet.</a:t>
            </a:r>
            <a:endParaRPr sz="1200"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6" title="Frame 6.png"/>
          <p:cNvPicPr preferRelativeResize="0"/>
          <p:nvPr/>
        </p:nvPicPr>
        <p:blipFill rotWithShape="1">
          <a:blip r:embed="rId3">
            <a:alphaModFix/>
          </a:blip>
          <a:srcRect b="4736" l="0" r="0" t="5730"/>
          <a:stretch/>
        </p:blipFill>
        <p:spPr>
          <a:xfrm>
            <a:off x="0" y="0"/>
            <a:ext cx="9144000" cy="53585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/>
          <p:nvPr/>
        </p:nvSpPr>
        <p:spPr>
          <a:xfrm>
            <a:off x="311700" y="776500"/>
            <a:ext cx="8520600" cy="40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Poppins"/>
                <a:ea typeface="Poppins"/>
                <a:cs typeface="Poppins"/>
                <a:sym typeface="Poppins"/>
              </a:rPr>
              <a:t>GitHub Public Repository URL</a:t>
            </a:r>
            <a:endParaRPr b="1"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latin typeface="Poppins Medium"/>
                <a:ea typeface="Poppins Medium"/>
                <a:cs typeface="Poppins Medium"/>
                <a:sym typeface="Poppins Medium"/>
              </a:rPr>
              <a:t>a) Repository Link: [Insert Private GitHub URL]</a:t>
            </a:r>
            <a:endParaRPr sz="1200"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latin typeface="Poppins Medium"/>
                <a:ea typeface="Poppins Medium"/>
                <a:cs typeface="Poppins Medium"/>
                <a:sym typeface="Poppins Medium"/>
              </a:rPr>
              <a:t>Participants must grant Read access to the GitHub repository to the following email ID: [ncfe.hackathon@ncfe.org.in], failing which the submission may not be evaluated.</a:t>
            </a:r>
            <a:endParaRPr sz="1200"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latin typeface="Poppins Medium"/>
                <a:ea typeface="Poppins Medium"/>
                <a:cs typeface="Poppins Medium"/>
                <a:sym typeface="Poppins Medium"/>
              </a:rPr>
              <a:t>b) Mandatory README.md Checklist: Ensure your root directory contains a documentation file with the following:</a:t>
            </a:r>
            <a:endParaRPr sz="1200"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Poppins Medium"/>
              <a:buChar char="●"/>
            </a:pPr>
            <a:r>
              <a:rPr lang="en-GB" sz="1200">
                <a:latin typeface="Poppins Medium"/>
                <a:ea typeface="Poppins Medium"/>
                <a:cs typeface="Poppins Medium"/>
                <a:sym typeface="Poppins Medium"/>
              </a:rPr>
              <a:t>A clear list of all tech stack dependencies and versions.</a:t>
            </a:r>
            <a:endParaRPr sz="1200"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Char char="●"/>
            </a:pPr>
            <a:r>
              <a:rPr lang="en-GB" sz="1200">
                <a:latin typeface="Poppins Medium"/>
                <a:ea typeface="Poppins Medium"/>
                <a:cs typeface="Poppins Medium"/>
                <a:sym typeface="Poppins Medium"/>
              </a:rPr>
              <a:t>Step-by-step instructions on how to install, build and run the prototype locally.</a:t>
            </a:r>
            <a:endParaRPr sz="1200"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Char char="●"/>
            </a:pPr>
            <a:r>
              <a:rPr lang="en-GB" sz="1200">
                <a:latin typeface="Poppins Medium"/>
                <a:ea typeface="Poppins Medium"/>
                <a:cs typeface="Poppins Medium"/>
                <a:sym typeface="Poppins Medium"/>
              </a:rPr>
              <a:t>Testing credentials (e.g., dummy usernames and passwords) if the application requires a login.</a:t>
            </a:r>
            <a:endParaRPr sz="1200"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200">
                <a:latin typeface="Poppins Medium"/>
                <a:ea typeface="Poppins Medium"/>
                <a:cs typeface="Poppins Medium"/>
                <a:sym typeface="Poppins Medium"/>
              </a:rPr>
              <a:t>Note: Any modifications to the GitHub repository after the submission deadline (29 March 2026) will result in immediate disqualification.</a:t>
            </a:r>
            <a:endParaRPr sz="1200"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7" title="Frame 6.png"/>
          <p:cNvPicPr preferRelativeResize="0"/>
          <p:nvPr/>
        </p:nvPicPr>
        <p:blipFill rotWithShape="1">
          <a:blip r:embed="rId3">
            <a:alphaModFix/>
          </a:blip>
          <a:srcRect b="4736" l="0" r="0" t="5730"/>
          <a:stretch/>
        </p:blipFill>
        <p:spPr>
          <a:xfrm>
            <a:off x="0" y="0"/>
            <a:ext cx="9144000" cy="53585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7"/>
          <p:cNvSpPr txBox="1"/>
          <p:nvPr/>
        </p:nvSpPr>
        <p:spPr>
          <a:xfrm>
            <a:off x="311700" y="776500"/>
            <a:ext cx="8520600" cy="40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Poppins"/>
                <a:ea typeface="Poppins"/>
                <a:cs typeface="Poppins"/>
                <a:sym typeface="Poppins"/>
              </a:rPr>
              <a:t>Demo Video (10 Minutes)</a:t>
            </a:r>
            <a:endParaRPr b="1"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latin typeface="Poppins Medium"/>
                <a:ea typeface="Poppins Medium"/>
                <a:cs typeface="Poppins Medium"/>
                <a:sym typeface="Poppins Medium"/>
              </a:rPr>
              <a:t>Video Link: [Insert Specific Video File URL shared via Google Drive / </a:t>
            </a:r>
            <a:r>
              <a:rPr lang="en-GB" sz="1200">
                <a:latin typeface="Poppins Medium"/>
                <a:ea typeface="Poppins Medium"/>
                <a:cs typeface="Poppins Medium"/>
                <a:sym typeface="Poppins Medium"/>
              </a:rPr>
              <a:t>Onedrive</a:t>
            </a:r>
            <a:r>
              <a:rPr lang="en-GB" sz="1200">
                <a:latin typeface="Poppins Medium"/>
                <a:ea typeface="Poppins Medium"/>
                <a:cs typeface="Poppins Medium"/>
                <a:sym typeface="Poppins Medium"/>
              </a:rPr>
              <a:t>]</a:t>
            </a:r>
            <a:endParaRPr sz="1200"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latin typeface="Poppins Medium"/>
                <a:ea typeface="Poppins Medium"/>
                <a:cs typeface="Poppins Medium"/>
                <a:sym typeface="Poppins Medium"/>
              </a:rPr>
              <a:t>This must be a functional walkthrough, not a marketing video. It must feature an unedited screen recording of a user completing the primary task within the application.</a:t>
            </a:r>
            <a:endParaRPr sz="1200"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Poppins Medium"/>
              <a:buChar char="●"/>
            </a:pPr>
            <a:r>
              <a:rPr lang="en-GB" sz="1200">
                <a:latin typeface="Poppins Medium"/>
                <a:ea typeface="Poppins Medium"/>
                <a:cs typeface="Poppins Medium"/>
                <a:sym typeface="Poppins Medium"/>
              </a:rPr>
              <a:t>Explain how your gamification strategy incorporates the &amp;quot;rule of three” mentioned in problem statement.</a:t>
            </a:r>
            <a:endParaRPr sz="1200"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Char char="●"/>
            </a:pPr>
            <a:r>
              <a:rPr lang="en-GB" sz="1200">
                <a:latin typeface="Poppins Medium"/>
                <a:ea typeface="Poppins Medium"/>
                <a:cs typeface="Poppins Medium"/>
                <a:sym typeface="Poppins Medium"/>
              </a:rPr>
              <a:t>Explain your reward and penalty mechanisms. How is the user incentivized?</a:t>
            </a:r>
            <a:endParaRPr sz="1200"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Char char="●"/>
            </a:pPr>
            <a:r>
              <a:rPr lang="en-GB" sz="1200">
                <a:latin typeface="Poppins Medium"/>
                <a:ea typeface="Poppins Medium"/>
                <a:cs typeface="Poppins Medium"/>
                <a:sym typeface="Poppins Medium"/>
              </a:rPr>
              <a:t>Describe the story, scenario or character the user interacts with during gameplay.</a:t>
            </a:r>
            <a:endParaRPr sz="1200"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8" title="Frame 6.png"/>
          <p:cNvPicPr preferRelativeResize="0"/>
          <p:nvPr/>
        </p:nvPicPr>
        <p:blipFill rotWithShape="1">
          <a:blip r:embed="rId3">
            <a:alphaModFix/>
          </a:blip>
          <a:srcRect b="4736" l="0" r="0" t="5730"/>
          <a:stretch/>
        </p:blipFill>
        <p:spPr>
          <a:xfrm>
            <a:off x="0" y="0"/>
            <a:ext cx="9144000" cy="5358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8"/>
          <p:cNvSpPr txBox="1"/>
          <p:nvPr/>
        </p:nvSpPr>
        <p:spPr>
          <a:xfrm>
            <a:off x="311700" y="776500"/>
            <a:ext cx="8520600" cy="40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Poppins"/>
                <a:ea typeface="Poppins"/>
                <a:cs typeface="Poppins"/>
                <a:sym typeface="Poppins"/>
              </a:rPr>
              <a:t>Limitations of Prototype (Optional)</a:t>
            </a:r>
            <a:endParaRPr b="1"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200">
                <a:latin typeface="Poppins Medium"/>
                <a:ea typeface="Poppins Medium"/>
                <a:cs typeface="Poppins Medium"/>
                <a:sym typeface="Poppins Medium"/>
              </a:rPr>
              <a:t>List any bugs, incomplete features or hardcoded dummy data present in the current build.</a:t>
            </a:r>
            <a:endParaRPr sz="1200"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9" title="Frame 6.png"/>
          <p:cNvPicPr preferRelativeResize="0"/>
          <p:nvPr/>
        </p:nvPicPr>
        <p:blipFill rotWithShape="1">
          <a:blip r:embed="rId3">
            <a:alphaModFix/>
          </a:blip>
          <a:srcRect b="4736" l="0" r="0" t="5730"/>
          <a:stretch/>
        </p:blipFill>
        <p:spPr>
          <a:xfrm>
            <a:off x="0" y="0"/>
            <a:ext cx="9144000" cy="5358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9"/>
          <p:cNvSpPr txBox="1"/>
          <p:nvPr/>
        </p:nvSpPr>
        <p:spPr>
          <a:xfrm>
            <a:off x="311700" y="776500"/>
            <a:ext cx="8520600" cy="40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Poppins"/>
                <a:ea typeface="Poppins"/>
                <a:cs typeface="Poppins"/>
                <a:sym typeface="Poppins"/>
              </a:rPr>
              <a:t>Feasibility &amp; Market Alignment</a:t>
            </a:r>
            <a:endParaRPr b="1"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200">
                <a:latin typeface="Poppins Medium"/>
                <a:ea typeface="Poppins Medium"/>
                <a:cs typeface="Poppins Medium"/>
                <a:sym typeface="Poppins Medium"/>
              </a:rPr>
              <a:t>Please provide a clear, realistic explanation of how this prototype may be developed into a full-scale application for mass adoption.</a:t>
            </a:r>
            <a:endParaRPr sz="1200"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0" title="Frame 6.png"/>
          <p:cNvPicPr preferRelativeResize="0"/>
          <p:nvPr/>
        </p:nvPicPr>
        <p:blipFill rotWithShape="1">
          <a:blip r:embed="rId3">
            <a:alphaModFix/>
          </a:blip>
          <a:srcRect b="4736" l="0" r="0" t="5730"/>
          <a:stretch/>
        </p:blipFill>
        <p:spPr>
          <a:xfrm>
            <a:off x="0" y="0"/>
            <a:ext cx="9144000" cy="535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0"/>
          <p:cNvSpPr txBox="1"/>
          <p:nvPr/>
        </p:nvSpPr>
        <p:spPr>
          <a:xfrm>
            <a:off x="311700" y="776500"/>
            <a:ext cx="8520600" cy="40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600">
                <a:latin typeface="Poppins Medium"/>
                <a:ea typeface="Poppins Medium"/>
                <a:cs typeface="Poppins Medium"/>
                <a:sym typeface="Poppins Medium"/>
              </a:rPr>
              <a:t>Additional Slide</a:t>
            </a:r>
            <a:endParaRPr sz="1600">
              <a:solidFill>
                <a:srgbClr val="00000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1" title="Frame 7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